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4A1560">
              <a:alpha val="30000"/>
            </a:srgbClr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8B2252">
              <a:alpha val="25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1828800" cy="1828800"/>
          </a:xfrm>
          <a:prstGeom prst="ellipse">
            <a:avLst/>
          </a:prstGeom>
          <a:solidFill>
            <a:srgbClr val="4A1560">
              <a:alpha val="20000"/>
            </a:srgbClr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587A"/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Momentary Momentos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Human Memory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371600" cy="3657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Capture. Tag. Relive.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029200" cy="109728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574"/>
                </a:solidFill>
              </a:rPr>
              <a:t>1.8 trillion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photos captured per year. Almost none revisited meaningfully.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Corinne Kelley  ·  Founder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memories are buried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digital clutter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65176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665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Libraries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user has 5,000–10,000 photos with no meaningful way to find them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8288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828800"/>
            <a:ext cx="265176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2011680"/>
            <a:ext cx="548640" cy="54864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206654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Friction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journaling apps require effort most people don't sustain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8288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828800"/>
            <a:ext cx="265176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40880" y="2011680"/>
            <a:ext cx="548640" cy="54864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206654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&amp; Algorithmic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surfaces memories based on engagement, not emotional meaning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technology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ignores emotional context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840480" cy="274320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technology sees memory: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937760" y="1828800"/>
            <a:ext cx="3840480" cy="2743200"/>
          </a:xfrm>
          <a:prstGeom prst="rect">
            <a:avLst/>
          </a:prstGeom>
          <a:solidFill>
            <a:srgbClr val="8B2252">
              <a:alpha val="50000"/>
            </a:srgbClr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0749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remember: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37744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4924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were with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83464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4924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felt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29184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4924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meant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749040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492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you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build for how humans actually remember.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memory platform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around meaning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34640" y="2743200"/>
            <a:ext cx="457200" cy="54864"/>
          </a:xfrm>
          <a:prstGeom prst="rect">
            <a:avLst/>
          </a:prstGeom>
          <a:solidFill>
            <a:srgbClr val="C4587A"/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920240"/>
            <a:ext cx="640080" cy="64008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9842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reflections, photos, and moments — with zero friction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2743200"/>
            <a:ext cx="457200" cy="54864"/>
          </a:xfrm>
          <a:prstGeom prst="rect">
            <a:avLst/>
          </a:prstGeom>
          <a:solidFill>
            <a:srgbClr val="C4587A"/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0520" y="1920240"/>
            <a:ext cx="640080" cy="64008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9842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83280" y="3154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intelligent tagging across people, places, feelings, and themes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95160" y="1920240"/>
            <a:ext cx="640080" cy="64008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98424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Relive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17920" y="3154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Unexpected, meaningful resurfacing of the moments that shaped you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4A1560">
              <a:alpha val="15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416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diary people forget — a living archive of personal meaning.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Tagging That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148840" cy="1234440"/>
          </a:xfrm>
          <a:prstGeom prst="rect">
            <a:avLst/>
          </a:prstGeom>
          <a:solidFill>
            <a:srgbClr val="8B2252">
              <a:alpha val="60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011680"/>
            <a:ext cx="347472" cy="347472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" y="2046427"/>
            <a:ext cx="277978" cy="2779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029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 ·  family  ·  partners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97480" y="1920240"/>
            <a:ext cx="2148840" cy="1234440"/>
          </a:xfrm>
          <a:prstGeom prst="rect">
            <a:avLst/>
          </a:prstGeom>
          <a:solidFill>
            <a:srgbClr val="4A1560">
              <a:alpha val="60000"/>
            </a:srgbClr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70632" y="2011680"/>
            <a:ext cx="347472" cy="347472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379" y="2046427"/>
            <a:ext cx="277978" cy="2779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029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70632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 ·  homes  ·  travels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3337560"/>
            <a:ext cx="2148840" cy="1234440"/>
          </a:xfrm>
          <a:prstGeom prst="rect">
            <a:avLst/>
          </a:prstGeom>
          <a:solidFill>
            <a:srgbClr val="7B3F6E">
              <a:alpha val="60000"/>
            </a:srgbClr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8912" y="3429000"/>
            <a:ext cx="347472" cy="347472"/>
          </a:xfrm>
          <a:prstGeom prst="ellipse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" y="3463747"/>
            <a:ext cx="277978" cy="2779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3447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38912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 ·  grief  ·  growth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697480" y="3337560"/>
            <a:ext cx="2148840" cy="1234440"/>
          </a:xfrm>
          <a:prstGeom prst="rect">
            <a:avLst/>
          </a:prstGeom>
          <a:solidFill>
            <a:srgbClr val="5C2D82">
              <a:alpha val="60000"/>
            </a:srgbClr>
          </a:solidFill>
          <a:ln w="12700">
            <a:solidFill>
              <a:srgbClr val="5C2D8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70632" y="3429000"/>
            <a:ext cx="347472" cy="347472"/>
          </a:xfrm>
          <a:prstGeom prst="ellipse">
            <a:avLst/>
          </a:prstGeom>
          <a:solidFill>
            <a:srgbClr val="5C2D82"/>
          </a:solidFill>
          <a:ln w="12700">
            <a:solidFill>
              <a:srgbClr val="5C2D8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379" y="3463747"/>
            <a:ext cx="277978" cy="27797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00400" y="3447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770632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 ·  healing  ·  gratitude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29200" y="1737360"/>
            <a:ext cx="3749040" cy="3017520"/>
          </a:xfrm>
          <a:prstGeom prst="rect">
            <a:avLst/>
          </a:prstGeom>
          <a:solidFill>
            <a:srgbClr val="4A1560">
              <a:alpha val="30000"/>
            </a:srgbClr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16636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searches: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166360" y="2331720"/>
            <a:ext cx="3429000" cy="41148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0352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"Memories with Mom"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166360" y="2898648"/>
            <a:ext cx="3429000" cy="41148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0352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"Moments I felt proud"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166360" y="3465576"/>
            <a:ext cx="3429000" cy="41148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303520" y="3493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"Trips that changed me"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166360" y="4032504"/>
            <a:ext cx="3429000" cy="41148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03520" y="40599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 was grieving"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store memories. Momentary Momentos understands them.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1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8B2252">
              <a:alpha val="25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Reliving™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time capsule, personalized to your emotional life.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840480" cy="2560320"/>
          </a:xfrm>
          <a:prstGeom prst="rect">
            <a:avLst/>
          </a:prstGeom>
          <a:solidFill>
            <a:srgbClr val="1A0A2E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3 years ago today...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3566160" cy="109728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"That afternoon in the garden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Grandma — I felt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peace."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Tagged: family · joy · healing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94560"/>
            <a:ext cx="411480" cy="411480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468" y="2235708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49240" y="2221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by emotional similarity, not just date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46320" y="3017520"/>
            <a:ext cx="411480" cy="411480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30586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30449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nostalgia, reflection &amp; gratitude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846320" y="3840480"/>
            <a:ext cx="411480" cy="411480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38816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38679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increases daily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memory platform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emotional protection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840480" cy="288036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574"/>
                </a:solidFill>
              </a:rPr>
              <a:t>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memory may 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sensitive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to view it?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1051560" cy="347472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3566160"/>
            <a:ext cx="1051560" cy="347472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for later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3566160"/>
            <a:ext cx="1051560" cy="34747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competitive moat: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896" y="2322576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49240" y="2304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memory platform prioritizes emotional safety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2880360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91693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9240" y="2898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deep user trust and loyalty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3474720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351129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9240" y="3493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mental wellness megatrend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846320" y="4069080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410565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40873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memory tech into responsible tech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 and growing category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194560" cy="1097280"/>
          </a:xfrm>
          <a:prstGeom prst="rect">
            <a:avLst/>
          </a:prstGeom>
          <a:solidFill>
            <a:srgbClr val="8B2252">
              <a:alpha val="60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 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Journaling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508760"/>
            <a:ext cx="2194560" cy="1097280"/>
          </a:xfrm>
          <a:prstGeom prst="rect">
            <a:avLst/>
          </a:prstGeom>
          <a:solidFill>
            <a:srgbClr val="4A1560">
              <a:alpha val="60000"/>
            </a:srgbClr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 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Storage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2194560" cy="1097280"/>
          </a:xfrm>
          <a:prstGeom prst="rect">
            <a:avLst/>
          </a:prstGeom>
          <a:solidFill>
            <a:srgbClr val="7B3F6E">
              <a:alpha val="60000"/>
            </a:srgbClr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 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Apps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2880360"/>
            <a:ext cx="2194560" cy="1097280"/>
          </a:xfrm>
          <a:prstGeom prst="rect">
            <a:avLst/>
          </a:prstGeom>
          <a:solidFill>
            <a:srgbClr val="5C2D82">
              <a:alpha val="60000"/>
            </a:srgbClr>
          </a:solidFill>
          <a:ln w="12700">
            <a:solidFill>
              <a:srgbClr val="5C2D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926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 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74320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Documentation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417320"/>
            <a:ext cx="3657600" cy="3291840"/>
          </a:xfrm>
          <a:prstGeom prst="rect">
            <a:avLst/>
          </a:prstGeom>
          <a:solidFill>
            <a:srgbClr val="8B2252">
              <a:alpha val="70000"/>
            </a:srgbClr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54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697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$XX+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has organized those memories around meaning — until now.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Momentary Momentos brings memories to life.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097280"/>
                <a:gridCol w="1005840"/>
                <a:gridCol w="118872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</a:rPr>
                        <a:t>Momentary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</a:rPr>
                        <a:t>Momentos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2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 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Google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Photos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Facebook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Memories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5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Emotional Tagging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0A2E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Multi-Dim Tagging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0A2E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Basic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Basic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Random Resurfacing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0A2E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Basic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Algorithmic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Trigger Warnings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0A2E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Emotional Safety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0A2E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</a:rPr>
                        <a:t>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Dual-tier monetization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4A1560">
              <a:alpha val="50000"/>
            </a:srgbClr>
          </a:solidFill>
          <a:ln w="19050">
            <a:solidFill>
              <a:srgbClr val="C45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Ad-Supported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317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memory journaling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Reliving feature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4612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tagging system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0332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ad placements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292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Mass adoption &amp; virality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846320" y="1417320"/>
            <a:ext cx="3931920" cy="3383280"/>
          </a:xfrm>
          <a:prstGeom prst="rect">
            <a:avLst/>
          </a:prstGeom>
          <a:solidFill>
            <a:srgbClr val="8B2252">
              <a:alpha val="70000"/>
            </a:srgbClr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9834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834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  ·  $39/yr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33172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Ad-free experience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3405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4924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tagging tools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136392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4924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resurfacing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53872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49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memory storage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941064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9240" y="3922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features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49834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High-value revenue capture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cultural forces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perfect moment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solidFill>
            <a:srgbClr val="8B2252">
              <a:alpha val="10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502920" cy="914400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93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have thousands of photos and memories but no meaningful way to revisit them. The gap between capture and experience has never been wider.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8412480" cy="914400"/>
          </a:xfrm>
          <a:prstGeom prst="rect">
            <a:avLst/>
          </a:prstGeom>
          <a:solidFill>
            <a:srgbClr val="4A1560">
              <a:alpha val="10000"/>
            </a:srgbClr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788920"/>
            <a:ext cx="502920" cy="9144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44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Movement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Reflection, journaling, and emotional awareness are becoming mainstream. Consumers actively seek tools that support their inner life.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7B3F6E">
              <a:alpha val="10000"/>
            </a:srgbClr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840480"/>
            <a:ext cx="502920" cy="914400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965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Nostalgia Economy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793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like Timehop and BeReal prove people love revisiting the past. Momentary Momentos combines all three forces into one platform.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signals of product-market fit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137160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X,XXX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signups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840480" cy="137160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XXX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840480" cy="137160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XX,XXX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created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063240"/>
            <a:ext cx="3840480" cy="137160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108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XX%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Day-30 retention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real metrics here to make this slide sing.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 visionary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understands the problem deeply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657600" cy="54864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965960"/>
            <a:ext cx="1645920" cy="1645920"/>
          </a:xfrm>
          <a:prstGeom prst="ellipse">
            <a:avLst/>
          </a:prstGeom>
          <a:solidFill>
            <a:srgbClr val="4A1560">
              <a:alpha val="80000"/>
            </a:srgbClr>
          </a:solidFill>
          <a:ln w="25400">
            <a:solidFill>
              <a:srgbClr val="C45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Corinne Kelley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· Product Visionary · Creator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team expansion: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236829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578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57800" y="2587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tagging intelligence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990088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026664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Engineers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257800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product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3648456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68503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3648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57800" y="3904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acquisition strategy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54880" y="4306824"/>
            <a:ext cx="365760" cy="365760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434340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257800" y="4562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resonant UX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8B2252">
              <a:alpha val="20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Momentary Momentos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raising: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097280"/>
          </a:xfrm>
          <a:prstGeom prst="rect">
            <a:avLst/>
          </a:prstGeom>
          <a:solidFill>
            <a:srgbClr val="8B2252">
              <a:alpha val="80000"/>
            </a:srgbClr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 Million Seed Round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92608" cy="292608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1" y="3503981"/>
            <a:ext cx="234086" cy="2340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Tagging Technology  —  40%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858768"/>
            <a:ext cx="292608" cy="292608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1" y="3888029"/>
            <a:ext cx="234086" cy="2340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 —  30%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4242816"/>
            <a:ext cx="292608" cy="292608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1" y="4272077"/>
            <a:ext cx="234086" cy="2340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Marketing  —  20%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4626864"/>
            <a:ext cx="292608" cy="292608"/>
          </a:xfrm>
          <a:prstGeom prst="ellipse">
            <a:avLst/>
          </a:prstGeom>
          <a:solidFill>
            <a:srgbClr val="4A1560"/>
          </a:solidFill>
          <a:ln w="12700">
            <a:solidFill>
              <a:srgbClr val="4A156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1" y="4656125"/>
            <a:ext cx="234086" cy="2340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Expansion  —  10%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0" y="1417320"/>
            <a:ext cx="3749040" cy="3291840"/>
          </a:xfrm>
          <a:prstGeom prst="rect">
            <a:avLst/>
          </a:prstGeom>
          <a:solidFill>
            <a:srgbClr val="4A1560">
              <a:alpha val="40000"/>
            </a:srgbClr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1663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Goals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05740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0" y="20482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iOS &amp; Android apps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53288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25237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X million users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008376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86400" y="29992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X% paid conversion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483864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486400" y="3474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tagging features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3959352"/>
            <a:ext cx="228600" cy="2286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486400" y="3950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 in X years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A1560">
              <a:alpha val="30000"/>
            </a:srgbClr>
          </a:solidFill>
          <a:ln w="12700">
            <a:solidFill>
              <a:srgbClr val="4A1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8B2252">
              <a:alpha val="25000"/>
            </a:srgbClr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587A"/>
          </a:solidFill>
          <a:ln w="12700">
            <a:solidFill>
              <a:srgbClr val="C458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life is made of moments.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them disappear into digital noise.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743200" cy="3657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Momentary Momentos ensures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moments that shape us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never lost.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stored.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Remembered.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Momentary Momentos — Investor Pitch</dc:title>
  <dc:subject>PptxGenJS Presentation</dc:subject>
  <dc:creator>PptxGenJS</dc:creator>
  <cp:lastModifiedBy>PptxGenJS</cp:lastModifiedBy>
  <cp:revision>1</cp:revision>
  <dcterms:created xsi:type="dcterms:W3CDTF">2026-03-08T15:04:24Z</dcterms:created>
  <dcterms:modified xsi:type="dcterms:W3CDTF">2026-03-08T15:04:24Z</dcterms:modified>
</cp:coreProperties>
</file>